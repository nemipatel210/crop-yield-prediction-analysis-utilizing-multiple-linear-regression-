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DM Sans" pitchFamily="2" charset="77"/>
      <p:regular r:id="rId21"/>
      <p:bold r:id="rId22"/>
      <p:italic r:id="rId23"/>
      <p:boldItalic r:id="rId24"/>
    </p:embeddedFont>
    <p:embeddedFont>
      <p:font typeface="Playfair Display" pitchFamily="2" charset="77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4702"/>
  </p:normalViewPr>
  <p:slideViewPr>
    <p:cSldViewPr snapToGrid="0">
      <p:cViewPr>
        <p:scale>
          <a:sx n="119" d="100"/>
          <a:sy n="119" d="100"/>
        </p:scale>
        <p:origin x="24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6143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40555" y="1867792"/>
            <a:ext cx="7110888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7FAF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Global Crop Yield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F7FAF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Prediction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09862" y="3734692"/>
            <a:ext cx="6772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7FAF4"/>
                </a:solidFill>
                <a:latin typeface="DM Sans"/>
                <a:ea typeface="DM Sans"/>
                <a:cs typeface="DM Sans"/>
                <a:sym typeface="DM Sans"/>
              </a:rPr>
              <a:t>Utilizing Multiple Linear Regression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709862" y="4420492"/>
            <a:ext cx="67722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7FAF4"/>
                </a:solidFill>
                <a:latin typeface="DM Sans"/>
                <a:ea typeface="DM Sans"/>
                <a:cs typeface="DM Sans"/>
                <a:sym typeface="DM Sans"/>
              </a:rPr>
              <a:t>Presented by Nemi Patel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4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C2B1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Methodological Pipeline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1DB30-5DE1-486B-C2DE-6DBABE4F2F49}"/>
              </a:ext>
            </a:extLst>
          </p:cNvPr>
          <p:cNvSpPr txBox="1"/>
          <p:nvPr/>
        </p:nvSpPr>
        <p:spPr>
          <a:xfrm>
            <a:off x="3049292" y="3278986"/>
            <a:ext cx="6098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2BBA5D-CC3E-8199-3666-F1F81C589727}"/>
              </a:ext>
            </a:extLst>
          </p:cNvPr>
          <p:cNvSpPr txBox="1"/>
          <p:nvPr/>
        </p:nvSpPr>
        <p:spPr>
          <a:xfrm>
            <a:off x="2987299" y="3093007"/>
            <a:ext cx="62225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EC7FA5-5502-8218-5F7B-B4606A87D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" y="1474940"/>
            <a:ext cx="11209631" cy="41974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4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7350" y="2557671"/>
            <a:ext cx="6460806" cy="40551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2800350"/>
            <a:ext cx="44196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rgbClr val="2C5F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28,242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4376737"/>
            <a:ext cx="44196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7BC62"/>
                </a:solidFill>
                <a:latin typeface="DM Sans"/>
                <a:ea typeface="DM Sans"/>
                <a:cs typeface="DM Sans"/>
                <a:sym typeface="DM Sans"/>
              </a:rPr>
              <a:t>Total Valid Records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467349" y="1304108"/>
            <a:ext cx="64608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C5F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Parameters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5467349" y="1697364"/>
            <a:ext cx="61531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Our analysis synthesizes seven features spanning geopolitical and environmental domains.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C2B1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Global Dataset Description</a:t>
            </a:r>
            <a:endParaRPr dirty="0"/>
          </a:p>
        </p:txBody>
      </p:sp>
      <p:sp>
        <p:nvSpPr>
          <p:cNvPr id="126" name="Google Shape;126;p15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FBEBD9-0F88-6CDE-7E99-E550FDC771B8}"/>
              </a:ext>
            </a:extLst>
          </p:cNvPr>
          <p:cNvSpPr txBox="1"/>
          <p:nvPr/>
        </p:nvSpPr>
        <p:spPr>
          <a:xfrm>
            <a:off x="5562600" y="2624462"/>
            <a:ext cx="6365556" cy="3504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Country:</a:t>
            </a:r>
            <a:r>
              <a:rPr lang="en-US" sz="14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Represents the specific geographical areas included in the analysis.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Agricultural Product: </a:t>
            </a:r>
            <a:r>
              <a:rPr lang="en-US" sz="14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Indicates the type of crop or item being analyzed.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Year:</a:t>
            </a:r>
            <a:r>
              <a:rPr lang="en-US" sz="14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Tracks productivity changes and climate trends over time.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Crop Yield:</a:t>
            </a:r>
            <a:r>
              <a:rPr lang="en-US" sz="14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Measured in hectograms per hectare (hg/ha); acts as the primary key performance indicator.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Average Rainfall: </a:t>
            </a:r>
            <a:r>
              <a:rPr lang="en-US" sz="14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Annual average in millimeters; a critical climate factor for productivity.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Pesticide Usage:</a:t>
            </a:r>
            <a:r>
              <a:rPr lang="en-US" sz="14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Measured in total </a:t>
            </a:r>
            <a:r>
              <a:rPr lang="en-US" sz="1400" b="0" i="0" u="none" strike="noStrike" cap="none" dirty="0" err="1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tonnes</a:t>
            </a:r>
            <a:r>
              <a:rPr lang="en-US" sz="14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used per year.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Average Temperature: </a:t>
            </a:r>
            <a:r>
              <a:rPr lang="en-US" sz="14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Annual average in degrees Celsius.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4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63757"/>
            <a:ext cx="5286375" cy="445273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1981200"/>
            <a:ext cx="555069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C5F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Target Variable Skewness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25336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The global crop yield (hg/ha) demonstrates a distinctive right-skewed distribution across the analyzed regions.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52500" y="32956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Pattern: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Majority of regions show moderate yields.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952500" y="3731859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Outliers: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Highly optimized agricultural zones produce significantly higher volumes.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952500" y="4548011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Impact: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Necessity for robust regression to handle variance in high-performing clusters.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C2B1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Exploratory Analysis: Distribution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792F13-5B82-1D1B-4BF0-BE45E09AA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3213" y="1705389"/>
            <a:ext cx="4608198" cy="40858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4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78226"/>
            <a:ext cx="5286375" cy="470452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6334125" y="1981200"/>
            <a:ext cx="555069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C5F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Temperature × Crop Type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334125" y="25336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LOESS curve analysis reveals that yield response to temperature is not uniform across agricultural products.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715125" y="32956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Non-Linearity:</a:t>
            </a: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Each crop possesses a distinct optimal thermal window.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715125" y="39052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Categorical Necessity: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Justifies the inclusion of "Item" as a key model predictor.</a:t>
            </a:r>
            <a:endParaRPr dirty="0"/>
          </a:p>
        </p:txBody>
      </p:sp>
      <p:sp>
        <p:nvSpPr>
          <p:cNvPr id="158" name="Google Shape;158;p17"/>
          <p:cNvSpPr txBox="1"/>
          <p:nvPr/>
        </p:nvSpPr>
        <p:spPr>
          <a:xfrm>
            <a:off x="6715125" y="45148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Micro-Effects:</a:t>
            </a: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Biological differences mediate the impact of climate shifts.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C2B1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Biological Interaction Effects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9B2ED-6FAC-794C-C475-49614D2495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343" y="1741268"/>
            <a:ext cx="4568687" cy="40499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4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35968"/>
            <a:ext cx="11049000" cy="833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59906"/>
            <a:ext cx="5286375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059906"/>
            <a:ext cx="5286375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321718"/>
            <a:ext cx="10477500" cy="26193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952500" y="3488531"/>
            <a:ext cx="475059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C5F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Hypothesis Testing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52499" y="3940969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Null (H₀):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Environmental factors have zero effect on yield coefficients.</a:t>
            </a:r>
            <a:endParaRPr dirty="0"/>
          </a:p>
        </p:txBody>
      </p:sp>
      <p:sp>
        <p:nvSpPr>
          <p:cNvPr id="172" name="Google Shape;172;p18"/>
          <p:cNvSpPr txBox="1"/>
          <p:nvPr/>
        </p:nvSpPr>
        <p:spPr>
          <a:xfrm>
            <a:off x="952499" y="5403056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Result: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p &lt; 2.2e-16 for all predictors. Reject H₀.</a:t>
            </a:r>
            <a:endParaRPr dirty="0"/>
          </a:p>
        </p:txBody>
      </p:sp>
      <p:sp>
        <p:nvSpPr>
          <p:cNvPr id="173" name="Google Shape;173;p18"/>
          <p:cNvSpPr txBox="1"/>
          <p:nvPr/>
        </p:nvSpPr>
        <p:spPr>
          <a:xfrm>
            <a:off x="6715125" y="3488531"/>
            <a:ext cx="475059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C5F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Performance Warning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715125" y="4040981"/>
            <a:ext cx="452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Adjusted R²: 0.0411 (4.1%)</a:t>
            </a:r>
            <a:endParaRPr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6715125" y="4488656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While statistically significant, the environment-only model suffers from extreme underfitting, explaining minimal variance.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C2B1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Baseline Environmental Model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1;p18">
            <a:extLst>
              <a:ext uri="{FF2B5EF4-FFF2-40B4-BE49-F238E27FC236}">
                <a16:creationId xmlns:a16="http://schemas.microsoft.com/office/drawing/2014/main" id="{A24AC320-5CF6-82E9-F331-55CC5CBCE8B6}"/>
              </a:ext>
            </a:extLst>
          </p:cNvPr>
          <p:cNvSpPr txBox="1"/>
          <p:nvPr/>
        </p:nvSpPr>
        <p:spPr>
          <a:xfrm>
            <a:off x="952500" y="4645819"/>
            <a:ext cx="4524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"/>
                <a:ea typeface="DM Sans"/>
                <a:cs typeface="DM Sans"/>
                <a:sym typeface="DM Sans"/>
              </a:rPr>
              <a:t>Alternative (H1):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"/>
                <a:ea typeface="DM Sans"/>
                <a:cs typeface="DM Sans"/>
                <a:sym typeface="DM Sans"/>
              </a:rPr>
              <a:t> </a:t>
            </a:r>
            <a:r>
              <a:rPr lang="en-IN" sz="1500" b="0" i="0" dirty="0">
                <a:effectLst/>
                <a:latin typeface=""/>
              </a:rPr>
              <a:t>Environmental factors significantly affect yield</a:t>
            </a:r>
            <a:endParaRPr sz="1500" dirty="0">
              <a:latin typeface="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4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872699" y="2189429"/>
            <a:ext cx="3721952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rgbClr val="2C5F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0.909</a:t>
            </a:r>
            <a:endParaRPr dirty="0"/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3787001"/>
            <a:ext cx="44196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97BC62"/>
                </a:solidFill>
                <a:latin typeface="DM Sans"/>
                <a:ea typeface="DM Sans"/>
                <a:cs typeface="DM Sans"/>
                <a:sym typeface="DM Sans"/>
              </a:rPr>
              <a:t>Durbin-Watson Stat</a:t>
            </a:r>
            <a:endParaRPr dirty="0"/>
          </a:p>
        </p:txBody>
      </p:sp>
      <p:sp>
        <p:nvSpPr>
          <p:cNvPr id="185" name="Google Shape;185;p19"/>
          <p:cNvSpPr txBox="1"/>
          <p:nvPr/>
        </p:nvSpPr>
        <p:spPr>
          <a:xfrm>
            <a:off x="5467350" y="2238375"/>
            <a:ext cx="646080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C5F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Positive Autocorrelation</a:t>
            </a:r>
            <a:endParaRPr dirty="0"/>
          </a:p>
        </p:txBody>
      </p:sp>
      <p:sp>
        <p:nvSpPr>
          <p:cNvPr id="186" name="Google Shape;186;p19"/>
          <p:cNvSpPr txBox="1"/>
          <p:nvPr/>
        </p:nvSpPr>
        <p:spPr>
          <a:xfrm>
            <a:off x="5467350" y="2790825"/>
            <a:ext cx="61531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The Durbin-Watson statistic indicates strong temporal dependency in agricultural data splits.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781675" y="35528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5848350" y="3476625"/>
            <a:ext cx="57721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Interpretation: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Current year yields are heavily correlated with historical baseline performance.</a:t>
            </a:r>
            <a:endParaRPr dirty="0"/>
          </a:p>
        </p:txBody>
      </p:sp>
      <p:sp>
        <p:nvSpPr>
          <p:cNvPr id="189" name="Google Shape;189;p19"/>
          <p:cNvSpPr txBox="1"/>
          <p:nvPr/>
        </p:nvSpPr>
        <p:spPr>
          <a:xfrm>
            <a:off x="5781675" y="41624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5848350" y="4071937"/>
            <a:ext cx="57721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Drivers: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Infrastructure, soil health, and farming continuity carry over years.</a:t>
            </a:r>
            <a:endParaRPr dirty="0"/>
          </a:p>
        </p:txBody>
      </p:sp>
      <p:sp>
        <p:nvSpPr>
          <p:cNvPr id="191" name="Google Shape;191;p19"/>
          <p:cNvSpPr txBox="1"/>
          <p:nvPr/>
        </p:nvSpPr>
        <p:spPr>
          <a:xfrm>
            <a:off x="5781675" y="47720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5848350" y="4681537"/>
            <a:ext cx="57721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Model Action: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"Year" must be maintained as a control variable for temporal trends.</a:t>
            </a:r>
            <a:endParaRPr dirty="0"/>
          </a:p>
        </p:txBody>
      </p:sp>
      <p:sp>
        <p:nvSpPr>
          <p:cNvPr id="193" name="Google Shape;193;p19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C2B1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Temporal Assumption Testing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5E721-CE1E-A513-C678-652C663D0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78" y="4323281"/>
            <a:ext cx="4887171" cy="10922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4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06885"/>
            <a:ext cx="3492549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706885"/>
            <a:ext cx="3492549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706885"/>
            <a:ext cx="3492549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784223" y="3783210"/>
            <a:ext cx="306710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C5F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Forward</a:t>
            </a:r>
            <a:endParaRPr dirty="0"/>
          </a:p>
        </p:txBody>
      </p:sp>
      <p:sp>
        <p:nvSpPr>
          <p:cNvPr id="205" name="Google Shape;205;p20"/>
          <p:cNvSpPr txBox="1"/>
          <p:nvPr/>
        </p:nvSpPr>
        <p:spPr>
          <a:xfrm>
            <a:off x="857250" y="4335660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Sequential addition of features starting from the null model.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4562523" y="3783210"/>
            <a:ext cx="306710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C5F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Backward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4635549" y="4335660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Step-by-step elimination of least significant predictors.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8340822" y="3783210"/>
            <a:ext cx="30671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tepwise</a:t>
            </a:r>
            <a:endParaRPr dirty="0"/>
          </a:p>
        </p:txBody>
      </p:sp>
      <p:sp>
        <p:nvSpPr>
          <p:cNvPr id="209" name="Google Shape;209;p20"/>
          <p:cNvSpPr txBox="1"/>
          <p:nvPr/>
        </p:nvSpPr>
        <p:spPr>
          <a:xfrm>
            <a:off x="8413849" y="4335660"/>
            <a:ext cx="292104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BF3E8"/>
                </a:solidFill>
                <a:latin typeface="DM Sans"/>
                <a:ea typeface="DM Sans"/>
                <a:cs typeface="DM Sans"/>
                <a:sym typeface="DM Sans"/>
              </a:rPr>
              <a:t>A hybrid method that adds significant variables and removes non-significant ones at each step.</a:t>
            </a:r>
          </a:p>
        </p:txBody>
      </p:sp>
      <p:pic>
        <p:nvPicPr>
          <p:cNvPr id="210" name="Google Shape;21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7675" y="304978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95975" y="304978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4274" y="304978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762000" y="571500"/>
            <a:ext cx="1140142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C2B1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Forward Selection, Backward Elimination and Stepwise Regression</a:t>
            </a:r>
            <a:endParaRPr dirty="0"/>
          </a:p>
        </p:txBody>
      </p:sp>
      <p:sp>
        <p:nvSpPr>
          <p:cNvPr id="214" name="Google Shape;214;p20"/>
          <p:cNvSpPr/>
          <p:nvPr/>
        </p:nvSpPr>
        <p:spPr>
          <a:xfrm>
            <a:off x="571500" y="571499"/>
            <a:ext cx="76200" cy="867007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4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51101"/>
            <a:ext cx="10981163" cy="4092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868401" y="2112496"/>
            <a:ext cx="10282819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Forward Selection, Backward Elimination, and Stepwise Regression all converged on the identical optimal model.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1C2B1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The final baseline model retained four highly significant continuous variables: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Average Temperature: The strongest environmental predictor 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Year (Time Trend): Captures ongoing chronological changes in yield 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Pesticides (</a:t>
            </a:r>
            <a:r>
              <a:rPr lang="en-US" sz="1500" b="0" i="0" u="none" strike="noStrike" cap="none" dirty="0" err="1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Tonnes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): Significant agricultural input factor 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Average Rainfall (mm/year): Crucial baseline climate metric</a:t>
            </a:r>
          </a:p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sz="1500" b="0" i="0" u="none" strike="noStrike" cap="none" dirty="0">
              <a:solidFill>
                <a:srgbClr val="1C2B1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All retained variables are highly statistically significant, well below the standard p &lt; 0.05 threshold.</a:t>
            </a:r>
          </a:p>
        </p:txBody>
      </p:sp>
      <p:sp>
        <p:nvSpPr>
          <p:cNvPr id="213" name="Google Shape;213;p20"/>
          <p:cNvSpPr txBox="1"/>
          <p:nvPr/>
        </p:nvSpPr>
        <p:spPr>
          <a:xfrm>
            <a:off x="762000" y="571500"/>
            <a:ext cx="1140142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C2B1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Forward Selection, Backward Elimination and Stepwise Regression</a:t>
            </a:r>
            <a:endParaRPr dirty="0"/>
          </a:p>
        </p:txBody>
      </p:sp>
      <p:sp>
        <p:nvSpPr>
          <p:cNvPr id="214" name="Google Shape;214;p20"/>
          <p:cNvSpPr/>
          <p:nvPr/>
        </p:nvSpPr>
        <p:spPr>
          <a:xfrm>
            <a:off x="571500" y="571499"/>
            <a:ext cx="76200" cy="867007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6602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4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905250"/>
            <a:ext cx="5286375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85900"/>
            <a:ext cx="110490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571500" y="3905250"/>
            <a:ext cx="555069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C5F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"Area &amp; Item" Effect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571500" y="44577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Adding categorical identifiers for Country (Area) and Crop Type (Item) fixed the severe underfitting of the baseline model.</a:t>
            </a:r>
            <a:endParaRPr dirty="0"/>
          </a:p>
        </p:txBody>
      </p:sp>
      <p:sp>
        <p:nvSpPr>
          <p:cNvPr id="224" name="Google Shape;224;p21"/>
          <p:cNvSpPr txBox="1"/>
          <p:nvPr/>
        </p:nvSpPr>
        <p:spPr>
          <a:xfrm>
            <a:off x="6524625" y="4095750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Note:</a:t>
            </a: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Statistical robustness is maintained despite high R², indicating these are the primary drivers of global yield variation.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C2B1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Improved Model Explanatory Power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3C3628-750E-89F0-66AB-C28BAC086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2547" y="1891149"/>
            <a:ext cx="8507953" cy="17056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4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81199"/>
            <a:ext cx="5286375" cy="4174273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6334125" y="1981200"/>
            <a:ext cx="555069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C5F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Predicted vs. Actual Yield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6334125" y="25336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Model validation on unseen test data (80/20 split) shows high alignment between forecasts and ground truth.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6648450" y="32956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6715125" y="3186769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Out-of-Sample R²: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77.30%</a:t>
            </a:r>
            <a:endParaRPr dirty="0"/>
          </a:p>
        </p:txBody>
      </p:sp>
      <p:sp>
        <p:nvSpPr>
          <p:cNvPr id="238" name="Google Shape;238;p22"/>
          <p:cNvSpPr txBox="1"/>
          <p:nvPr/>
        </p:nvSpPr>
        <p:spPr>
          <a:xfrm>
            <a:off x="6648450" y="36004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239" name="Google Shape;239;p22"/>
          <p:cNvSpPr txBox="1"/>
          <p:nvPr/>
        </p:nvSpPr>
        <p:spPr>
          <a:xfrm>
            <a:off x="6715125" y="3523300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Training </a:t>
            </a: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R² : </a:t>
            </a:r>
            <a:r>
              <a:rPr lang="en-US" sz="150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83.68%.</a:t>
            </a:r>
            <a:endParaRPr dirty="0"/>
          </a:p>
        </p:txBody>
      </p:sp>
      <p:sp>
        <p:nvSpPr>
          <p:cNvPr id="243" name="Google Shape;243;p22"/>
          <p:cNvSpPr txBox="1"/>
          <p:nvPr/>
        </p:nvSpPr>
        <p:spPr>
          <a:xfrm>
            <a:off x="6334125" y="384402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Interpretation: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Model generalizes successfully to new global regions.</a:t>
            </a:r>
            <a:endParaRPr dirty="0"/>
          </a:p>
        </p:txBody>
      </p:sp>
      <p:sp>
        <p:nvSpPr>
          <p:cNvPr id="244" name="Google Shape;244;p22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C2B1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Predictive Reliability Check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CD8E2F-554A-CC51-F6C6-33382D92A7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643" y="2188068"/>
            <a:ext cx="4221982" cy="36900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4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7412"/>
            <a:ext cx="3492549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57412"/>
            <a:ext cx="3492549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57412"/>
            <a:ext cx="3492549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784223" y="3233737"/>
            <a:ext cx="306710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C5F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Stability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857250" y="378618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Tested 10 times across different data subsets to ensure results weren't a result of "lucky" splits.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4562523" y="3233737"/>
            <a:ext cx="306710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000" b="1" i="0" u="none" strike="noStrike" cap="none" dirty="0">
                <a:solidFill>
                  <a:srgbClr val="2C5F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83.50 %</a:t>
            </a:r>
            <a:endParaRPr dirty="0"/>
          </a:p>
        </p:txBody>
      </p:sp>
      <p:sp>
        <p:nvSpPr>
          <p:cNvPr id="257" name="Google Shape;257;p23"/>
          <p:cNvSpPr txBox="1"/>
          <p:nvPr/>
        </p:nvSpPr>
        <p:spPr>
          <a:xfrm>
            <a:off x="4635549" y="3786187"/>
            <a:ext cx="2921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Average CV R² Score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4635549" y="423386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The negligible difference from training R² proves zero overfitting.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8340822" y="3233737"/>
            <a:ext cx="306710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C5F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Reliability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8413849" y="378618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Standard deviation across folds was minimal, confirming high model consistency.</a:t>
            </a:r>
            <a:endParaRPr/>
          </a:p>
        </p:txBody>
      </p:sp>
      <p:pic>
        <p:nvPicPr>
          <p:cNvPr id="261" name="Google Shape;26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9100" y="25003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5003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5699" y="25003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C2B1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10-Fold Cross-Validation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4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1809750" y="1123950"/>
            <a:ext cx="9001125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C5F2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 &amp; Insights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1809750" y="2333625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Global Crop Yield Prediction Findings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1809750" y="5534025"/>
            <a:ext cx="8572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C5F2D"/>
                </a:solidFill>
                <a:latin typeface="DM Sans"/>
                <a:ea typeface="DM Sans"/>
                <a:cs typeface="DM Sans"/>
                <a:sym typeface="DM Sans"/>
              </a:rPr>
              <a:t>Thank you for your attention. Any Questions?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2124075" y="31718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2190750" y="3095625"/>
            <a:ext cx="8191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Climate Baseline: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Rainfall and temp are significant but explain only </a:t>
            </a:r>
            <a:r>
              <a:rPr lang="en-US" sz="1500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4.11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% of variance alone.</a:t>
            </a:r>
            <a:endParaRPr dirty="0"/>
          </a:p>
        </p:txBody>
      </p:sp>
      <p:sp>
        <p:nvSpPr>
          <p:cNvPr id="276" name="Google Shape;276;p24"/>
          <p:cNvSpPr txBox="1"/>
          <p:nvPr/>
        </p:nvSpPr>
        <p:spPr>
          <a:xfrm>
            <a:off x="2124075" y="34766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2190750" y="3389971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Socio-Biological Drivers: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Geopolitical boundaries (Area) and crop biology (Item) are the dominant predictors.</a:t>
            </a:r>
            <a:endParaRPr dirty="0"/>
          </a:p>
        </p:txBody>
      </p:sp>
      <p:sp>
        <p:nvSpPr>
          <p:cNvPr id="278" name="Google Shape;278;p24"/>
          <p:cNvSpPr txBox="1"/>
          <p:nvPr/>
        </p:nvSpPr>
        <p:spPr>
          <a:xfrm>
            <a:off x="2124075" y="40862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2190750" y="4010025"/>
            <a:ext cx="8191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Predictive Power: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Final MLR model achieves robust ~</a:t>
            </a:r>
            <a:r>
              <a:rPr lang="en-US" sz="1500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83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% accuracy globally.</a:t>
            </a:r>
            <a:endParaRPr dirty="0"/>
          </a:p>
        </p:txBody>
      </p:sp>
      <p:sp>
        <p:nvSpPr>
          <p:cNvPr id="280" name="Google Shape;280;p24"/>
          <p:cNvSpPr txBox="1"/>
          <p:nvPr/>
        </p:nvSpPr>
        <p:spPr>
          <a:xfrm>
            <a:off x="2124075" y="43910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2190750" y="4301816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Future Work:</a:t>
            </a:r>
            <a:r>
              <a:rPr lang="en-US" sz="1500" b="0" i="0" u="none" strike="noStrike" cap="none" dirty="0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 Incorporating soil nitrogen levels and irrigation infrastructure for further optimization.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AF4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/>
          <p:nvPr/>
        </p:nvSpPr>
        <p:spPr>
          <a:xfrm>
            <a:off x="571500" y="173087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71500" y="251564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71500" y="330041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71500" y="428327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571500" y="25061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71500" y="25061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71500" y="32908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571500" y="32908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571500" y="42737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571500" y="42737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571500" y="505851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571500" y="505851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02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1666875" y="187374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https://slidebazaar.com/wp-content/uploads/2025/06/machine-learning-pipeline-framework-dark-template-powerpoint-google-slides.jpg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1666875" y="211946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slidebazaar.com</a:t>
            </a:r>
            <a:endParaRPr/>
          </a:p>
        </p:txBody>
      </p:sp>
      <p:pic>
        <p:nvPicPr>
          <p:cNvPr id="302" name="Google Shape;30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650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 txBox="1"/>
          <p:nvPr/>
        </p:nvSpPr>
        <p:spPr>
          <a:xfrm>
            <a:off x="1666875" y="265851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https://sites.nicholas.duke.edu/statsreview/files/2013/06/histtractA.jpg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1666875" y="290423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sites.nicholas.duke.edu</a:t>
            </a:r>
            <a:endParaRPr/>
          </a:p>
        </p:txBody>
      </p:sp>
      <p:pic>
        <p:nvPicPr>
          <p:cNvPr id="305" name="Google Shape;305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489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 txBox="1"/>
          <p:nvPr/>
        </p:nvSpPr>
        <p:spPr>
          <a:xfrm>
            <a:off x="1666875" y="344328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https://static.vecteezy.com/system/resources/previews/069/266/967/large_2x/symbolic-image-of-green-seedling-with-digital-network-overlay-representing-collaborative-smart-farming-system-and-data-driven-agricultural-ecosystem-photo.jpg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1666875" y="388709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pic>
        <p:nvPicPr>
          <p:cNvPr id="308" name="Google Shape;308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326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5"/>
          <p:cNvSpPr txBox="1"/>
          <p:nvPr/>
        </p:nvSpPr>
        <p:spPr>
          <a:xfrm>
            <a:off x="1666875" y="442614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https://finnstats.com/wp-content/uploads/2021/11/Predicted-vs-actual-value-plot.png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1666875" y="467186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www.r-bloggers.com</a:t>
            </a:r>
            <a:endParaRPr/>
          </a:p>
        </p:txBody>
      </p:sp>
      <p:pic>
        <p:nvPicPr>
          <p:cNvPr id="311" name="Google Shape;311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3165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1666875" y="521091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https://static.vecteezy.com/system/resources/previews/065/830/455/large_2x/lush-agricultural-fields-showcase-diverse-crops-under-clear-skies-in-a-tropical-setting-photo.jpeg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1666875" y="565472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C2B1C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C2B1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315" name="Google Shape;315;p25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886</Words>
  <Application>Microsoft Macintosh PowerPoint</Application>
  <PresentationFormat>Widescreen</PresentationFormat>
  <Paragraphs>106</Paragraphs>
  <Slides>14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Playfair Display</vt:lpstr>
      <vt:lpstr>Arial</vt:lpstr>
      <vt:lpstr>DM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NEMI PATEL</cp:lastModifiedBy>
  <cp:revision>4</cp:revision>
  <dcterms:modified xsi:type="dcterms:W3CDTF">2026-05-06T19:31:02Z</dcterms:modified>
</cp:coreProperties>
</file>